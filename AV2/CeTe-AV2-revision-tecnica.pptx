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15247c5a3b4099" /><Relationship Type="http://schemas.openxmlformats.org/officeDocument/2006/relationships/extended-properties" Target="/docProps/app.xml" Id="Rbd9e8f5fe7904eaa" /><Relationship Type="http://schemas.openxmlformats.org/officeDocument/2006/relationships/officeDocument" Target="/ppt/presentation.xml" Id="R58ec38b8def741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7aa430073694b13"/>
  </p:sldMasterIdLst>
  <p:notesMasterIdLst>
    <p:notesMasterId xmlns:r="http://schemas.openxmlformats.org/officeDocument/2006/relationships" r:id="R2e271c1e210946c7"/>
  </p:notesMasterIdLst>
  <p:sldIdLst>
    <p:sldId xmlns:r="http://schemas.openxmlformats.org/officeDocument/2006/relationships" id="256" r:id="Rebf1f52b0b0a444d"/>
    <p:sldId xmlns:r="http://schemas.openxmlformats.org/officeDocument/2006/relationships" id="257" r:id="R2d66735611c3494c"/>
    <p:sldId xmlns:r="http://schemas.openxmlformats.org/officeDocument/2006/relationships" id="258" r:id="Rb7e5190df96c4dd4"/>
    <p:sldId xmlns:r="http://schemas.openxmlformats.org/officeDocument/2006/relationships" id="259" r:id="R3792387b7f1c419e"/>
    <p:sldId xmlns:r="http://schemas.openxmlformats.org/officeDocument/2006/relationships" id="260" r:id="R140e4e627da54ca5"/>
    <p:sldId xmlns:r="http://schemas.openxmlformats.org/officeDocument/2006/relationships" id="261" r:id="Rc784da9a0bf64095"/>
    <p:sldId xmlns:r="http://schemas.openxmlformats.org/officeDocument/2006/relationships" id="262" r:id="Rc41e67300cad4ff7"/>
    <p:sldId xmlns:r="http://schemas.openxmlformats.org/officeDocument/2006/relationships" id="263" r:id="Reb3ced3a8bae4b4f"/>
    <p:sldId xmlns:r="http://schemas.openxmlformats.org/officeDocument/2006/relationships" id="264" r:id="R652788eb5b5643ea"/>
    <p:sldId xmlns:r="http://schemas.openxmlformats.org/officeDocument/2006/relationships" id="265" r:id="Rb7d13bbb85384096"/>
    <p:sldId xmlns:r="http://schemas.openxmlformats.org/officeDocument/2006/relationships" id="266" r:id="Rad1203169e134239"/>
    <p:sldId xmlns:r="http://schemas.openxmlformats.org/officeDocument/2006/relationships" id="267" r:id="R06a1d6ef5708412a"/>
    <p:sldId xmlns:r="http://schemas.openxmlformats.org/officeDocument/2006/relationships" id="268" r:id="R84e90b28fac14510"/>
    <p:sldId xmlns:r="http://schemas.openxmlformats.org/officeDocument/2006/relationships" id="269" r:id="R6640e958a3f44152"/>
    <p:sldId xmlns:r="http://schemas.openxmlformats.org/officeDocument/2006/relationships" id="270" r:id="R61e49edcf1184277"/>
    <p:sldId xmlns:r="http://schemas.openxmlformats.org/officeDocument/2006/relationships" id="271" r:id="R9568dfb8797342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8b306e0f884a85" /><Relationship Type="http://schemas.openxmlformats.org/officeDocument/2006/relationships/slideMaster" Target="/ppt/slideMasters/slideMaster1.xml" Id="R17aa430073694b13" /><Relationship Type="http://schemas.openxmlformats.org/officeDocument/2006/relationships/notesMaster" Target="/ppt/notesMasters/notesMaster1.xml" Id="R2e271c1e210946c7" /><Relationship Type="http://schemas.openxmlformats.org/officeDocument/2006/relationships/presProps" Target="/ppt/presProps.xml" Id="R7362cf19c7a34008" /><Relationship Type="http://schemas.openxmlformats.org/officeDocument/2006/relationships/tableStyles" Target="/ppt/tableStyles.xml" Id="R1ab47d5b9bc34863" /><Relationship Type="http://schemas.openxmlformats.org/officeDocument/2006/relationships/slide" Target="/ppt/slides/slide1.xml" Id="Rebf1f52b0b0a444d" /><Relationship Type="http://schemas.openxmlformats.org/officeDocument/2006/relationships/slide" Target="/ppt/slides/slide2.xml" Id="R2d66735611c3494c" /><Relationship Type="http://schemas.openxmlformats.org/officeDocument/2006/relationships/slide" Target="/ppt/slides/slide3.xml" Id="Rb7e5190df96c4dd4" /><Relationship Type="http://schemas.openxmlformats.org/officeDocument/2006/relationships/slide" Target="/ppt/slides/slide4.xml" Id="R3792387b7f1c419e" /><Relationship Type="http://schemas.openxmlformats.org/officeDocument/2006/relationships/slide" Target="/ppt/slides/slide5.xml" Id="R140e4e627da54ca5" /><Relationship Type="http://schemas.openxmlformats.org/officeDocument/2006/relationships/slide" Target="/ppt/slides/slide6.xml" Id="Rc784da9a0bf64095" /><Relationship Type="http://schemas.openxmlformats.org/officeDocument/2006/relationships/slide" Target="/ppt/slides/slide7.xml" Id="Rc41e67300cad4ff7" /><Relationship Type="http://schemas.openxmlformats.org/officeDocument/2006/relationships/slide" Target="/ppt/slides/slide8.xml" Id="Reb3ced3a8bae4b4f" /><Relationship Type="http://schemas.openxmlformats.org/officeDocument/2006/relationships/slide" Target="/ppt/slides/slide9.xml" Id="R652788eb5b5643ea" /><Relationship Type="http://schemas.openxmlformats.org/officeDocument/2006/relationships/slide" Target="/ppt/slides/slide10.xml" Id="Rb7d13bbb85384096" /><Relationship Type="http://schemas.openxmlformats.org/officeDocument/2006/relationships/slide" Target="/ppt/slides/slide11.xml" Id="Rad1203169e134239" /><Relationship Type="http://schemas.openxmlformats.org/officeDocument/2006/relationships/slide" Target="/ppt/slides/slide12.xml" Id="R06a1d6ef5708412a" /><Relationship Type="http://schemas.openxmlformats.org/officeDocument/2006/relationships/slide" Target="/ppt/slides/slide13.xml" Id="R84e90b28fac14510" /><Relationship Type="http://schemas.openxmlformats.org/officeDocument/2006/relationships/slide" Target="/ppt/slides/slide14.xml" Id="R6640e958a3f44152" /><Relationship Type="http://schemas.openxmlformats.org/officeDocument/2006/relationships/slide" Target="/ppt/slides/slide15.xml" Id="R61e49edcf1184277" /><Relationship Type="http://schemas.openxmlformats.org/officeDocument/2006/relationships/slide" Target="/ppt/slides/slide16.xml" Id="R9568dfb8797342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cca8f03fa349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cea2ce084f476e" /><Relationship Type="http://schemas.openxmlformats.org/officeDocument/2006/relationships/notesMaster" Target="/ppt/notesMasters/notesMaster1.xml" Id="R809a17c64c2848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f3a3b9150748f6" /><Relationship Type="http://schemas.openxmlformats.org/officeDocument/2006/relationships/notesMaster" Target="/ppt/notesMasters/notesMaster1.xml" Id="Rd96f6445093644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7c280e291746ee" /><Relationship Type="http://schemas.openxmlformats.org/officeDocument/2006/relationships/notesMaster" Target="/ppt/notesMasters/notesMaster1.xml" Id="Rd1d6f449906c4f1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2d774429c04c29" /><Relationship Type="http://schemas.openxmlformats.org/officeDocument/2006/relationships/notesMaster" Target="/ppt/notesMasters/notesMaster1.xml" Id="R1db16b5ca40048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b9745d94730400d" /><Relationship Type="http://schemas.openxmlformats.org/officeDocument/2006/relationships/notesMaster" Target="/ppt/notesMasters/notesMaster1.xml" Id="R6e37738ce77042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43155bd0e442f0" /><Relationship Type="http://schemas.openxmlformats.org/officeDocument/2006/relationships/notesMaster" Target="/ppt/notesMasters/notesMaster1.xml" Id="R9dfe0702054c42c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29cf0821ef4e0a" /><Relationship Type="http://schemas.openxmlformats.org/officeDocument/2006/relationships/notesMaster" Target="/ppt/notesMasters/notesMaster1.xml" Id="R5663c5bc9c9d46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a4092a91934c74" /><Relationship Type="http://schemas.openxmlformats.org/officeDocument/2006/relationships/notesMaster" Target="/ppt/notesMasters/notesMaster1.xml" Id="R9e3c136462a747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66d5cbe942f439a" /><Relationship Type="http://schemas.openxmlformats.org/officeDocument/2006/relationships/notesMaster" Target="/ppt/notesMasters/notesMaster1.xml" Id="R211e159ac6ab4a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71d83bd1c24a59" /><Relationship Type="http://schemas.openxmlformats.org/officeDocument/2006/relationships/notesMaster" Target="/ppt/notesMasters/notesMaster1.xml" Id="Rcdd0eaf1da704f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77e7d686d54f81" /><Relationship Type="http://schemas.openxmlformats.org/officeDocument/2006/relationships/notesMaster" Target="/ppt/notesMasters/notesMaster1.xml" Id="R5a52f7eb1a8e40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0359f3764f4ab3" /><Relationship Type="http://schemas.openxmlformats.org/officeDocument/2006/relationships/notesMaster" Target="/ppt/notesMasters/notesMaster1.xml" Id="R3739e8352a064e9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999bf1b15b64850" /><Relationship Type="http://schemas.openxmlformats.org/officeDocument/2006/relationships/notesMaster" Target="/ppt/notesMasters/notesMaster1.xml" Id="Race68508ef014b7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001befcb4d04be8" /><Relationship Type="http://schemas.openxmlformats.org/officeDocument/2006/relationships/notesMaster" Target="/ppt/notesMasters/notesMaster1.xml" Id="R481ec2a765e5415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c222c95caed47eb" /><Relationship Type="http://schemas.openxmlformats.org/officeDocument/2006/relationships/notesMaster" Target="/ppt/notesMasters/notesMaster1.xml" Id="R3af4bb2d345040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48f350950d34bf2" /><Relationship Type="http://schemas.openxmlformats.org/officeDocument/2006/relationships/notesMaster" Target="/ppt/notesMasters/notesMaster1.xml" Id="R9438572969514b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enunciado UPC Aplicaciones Web 202620 y rúbricas proporcionadas; feedback docente; repositorios Nexxus-ops. Datos de demostración ficticios. Revisión técnica asistida del 29/10/2026.</a:t>
            </a:r>
          </a:p>
          <a:p xmlns:a="http://schemas.openxmlformats.org/drawingml/2006/main">
            <a:r>
              <a:t>Presentación nueva editable. El PDF de keynote TB1 es fuente histórica. No se atribuyen aportes de AV2 a miembros sin evidencia.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enunciado UPC Aplicaciones Web 202620 y rúbricas proporcionadas; feedback docente; repositorios Nexxus-ops. Datos de demostración ficticios. Revisión técnica asistida del 29/10/2026.</a:t>
            </a:r>
          </a:p>
          <a:p xmlns:a="http://schemas.openxmlformats.org/drawingml/2006/main">
            <a:r>
              <a:t>Evidencia: evidence-public/dashboard-desktop.png. Prueba pública de registro, acceso, compras, venta y boleta con datos ficticios.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enunciado UPC Aplicaciones Web 202620 y rúbricas proporcionadas; feedback docente; repositorios Nexxus-ops. Datos de demostración ficticios. Revisión técnica asistida del 29/10/2026.</a:t>
            </a:r>
          </a:p>
          <a:p xmlns:a="http://schemas.openxmlformats.org/drawingml/2006/main">
            <a:r>
              <a:t>Feedback del profesor y capturas de rúbrica proporcionados por el usuario. Cada cambio se relaciona con pruebas y pendientes en Report-CeTe/AV2/README.md.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enunciado UPC Aplicaciones Web 202620 y rúbricas proporcionadas; feedback docente; repositorios Nexxus-ops. Datos de demostración ficticios. Revisión técnica asistida del 29/10/2026.</a:t>
            </a:r>
          </a:p>
          <a:p xmlns:a="http://schemas.openxmlformats.org/drawingml/2006/main">
            <a:r>
              <a:t>Fuente histórica: Report-CeTe commit 4fca641e0d9ff6273a8c66231ec3ac948122771c, Sprint Backlog 2 y Images/Trello-Backlog-2.png. La suma 4+5+5+3+4+2+2=25 es de estimaciones, no de horas ejecutadas.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enunciado UPC Aplicaciones Web 202620 y rúbricas proporcionadas; feedback docente; repositorios Nexxus-ops. Datos de demostración ficticios. Revisión técnica asistida del 29/10/2026.</a:t>
            </a:r>
          </a:p>
          <a:p xmlns:a="http://schemas.openxmlformats.org/drawingml/2006/main">
            <a:r>
              <a:t>Report-CeTe capítulo 3.1 y 3.3. 42 US + 35 TS = 77 filas. Las US suman 139 SP propuestos; las TS vinculadas están incluidas y no se suman otra vez. No es una velocidad alcanzada.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enunciado UPC Aplicaciones Web 202620 y rúbricas proporcionadas; feedback docente; repositorios Nexxus-ops. Datos de demostración ficticios. Revisión técnica asistida del 29/10/2026.</a:t>
            </a:r>
          </a:p>
          <a:p xmlns:a="http://schemas.openxmlformats.org/drawingml/2006/main">
            <a:r>
              <a:t>Implementación: CeTe-Api Domain, Application e Infrastructure. ASP.NET Core 10, EF Core 10 y PostgreSQL 17. API REST y JWT. ExchangeRate-API es servicio externo de referencia USD/PEN.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enunciado UPC Aplicaciones Web 202620 y rúbricas proporcionadas; feedback docente; repositorios Nexxus-ops. Datos de demostración ficticios. Revisión técnica asistida del 29/10/2026.</a:t>
            </a:r>
          </a:p>
          <a:p xmlns:a="http://schemas.openxmlformats.org/drawingml/2006/main">
            <a:r>
              <a:t>Prueba pública desde compras: crea orden de 2 unidades, recibe la cantidad pendiente y muestra 2/2. La API también verifica recepción parcial 4+6 y rechazo de un exceso de 7 cuando restan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enunciado UPC Aplicaciones Web 202620 y rúbricas proporcionadas; feedback docente; repositorios Nexxus-ops. Datos de demostración ficticios. Revisión técnica asistida del 29/10/2026.</a:t>
            </a:r>
          </a:p>
          <a:p xmlns:a="http://schemas.openxmlformats.org/drawingml/2006/main">
            <a:r>
              <a:t>Evidencia: evidence-public/receipt-document.png, capturada desde la vista real. Las pruebas HTTP editan el catálogo y comprueban que la boleta mantiene nombre y precio originales.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enunciado UPC Aplicaciones Web 202620 y rúbricas proporcionadas; feedback docente; repositorios Nexxus-ops. Datos de demostración ficticios. Revisión técnica asistida del 29/10/2026.</a:t>
            </a:r>
          </a:p>
          <a:p xmlns:a="http://schemas.openxmlformats.org/drawingml/2006/main">
            <a:r>
              <a:t>Evidencia pública a 390px. Se verifica ausencia de desbordamiento horizontal de la página y persistencia de es_419 después de recargar.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enunciado UPC Aplicaciones Web 202620 y rúbricas proporcionadas; feedback docente; repositorios Nexxus-ops. Datos de demostración ficticios. Revisión técnica asistida del 29/10/2026.</a:t>
            </a:r>
          </a:p>
          <a:p xmlns:a="http://schemas.openxmlformats.org/drawingml/2006/main">
            <a:r>
              <a:t>Landing pública verificada: https://cete-landing-av2.onrender.com/. Inglés en_US por defecto, español es_419 persistente, guía/términos/privacidad/ética, anclas y menú móvil.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enunciado UPC Aplicaciones Web 202620 y rúbricas proporcionadas; feedback docente; repositorios Nexxus-ops. Datos de demostración ficticios. Revisión técnica asistida del 29/10/2026.</a:t>
            </a:r>
          </a:p>
          <a:p xmlns:a="http://schemas.openxmlformats.org/drawingml/2006/main">
            <a:r>
              <a:t>Fuente: schema.sql exportado de PostgreSQL local y CeTeDb. Las tablas de expansión están persistidas, pero no se presentan como módulos completos.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enunciado UPC Aplicaciones Web 202620 y rúbricas proporcionadas; feedback docente; repositorios Nexxus-ops. Datos de demostración ficticios. Revisión técnica asistida del 29/10/2026.</a:t>
            </a:r>
          </a:p>
          <a:p xmlns:a="http://schemas.openxmlformats.org/drawingml/2006/main">
            <a:r>
              <a:t>api_smoke.py pasó localmente y contra https://cete-api-av2.onrender.com/api/v1. DomainChecks y pruebas Edge completan la revisión. El conflicto de EF envuelto se corrigió a 409.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enunciado UPC Aplicaciones Web 202620 y rúbricas proporcionadas; feedback docente; repositorios Nexxus-ops. Datos de demostración ficticios. Revisión técnica asistida del 29/10/2026.</a:t>
            </a:r>
          </a:p>
          <a:p xmlns:a="http://schemas.openxmlformats.org/drawingml/2006/main">
            <a:r>
              <a:t>Servicios Render Free confirmados: cete-api-av2, cete-web-av2, cete-landing-av2 y cete-postgres-av2. Plan Free aprobado por el usuario. https://render.com/docs/free.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enunciado UPC Aplicaciones Web 202620 y rúbricas proporcionadas; feedback docente; repositorios Nexxus-ops. Datos de demostración ficticios. Revisión técnica asistida del 29/10/2026.</a:t>
            </a:r>
          </a:p>
          <a:p xmlns:a="http://schemas.openxmlformats.org/drawingml/2006/main">
            <a:r>
              <a:t>La ficha TB1 y el feedback indican dos participantes en frontend. Las responsabilidades de Sprint 3 son propuestas, no atribución de trabajo realizado. No se modifican notas históricas.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enunciado UPC Aplicaciones Web 202620 y rúbricas proporcionadas; feedback docente; repositorios Nexxus-ops. Datos de demostración ficticios. Revisión técnica asistida del 29/10/2026.</a:t>
            </a:r>
          </a:p>
          <a:p xmlns:a="http://schemas.openxmlformats.org/drawingml/2006/main">
            <a:r>
              <a:t>Enunciado de AV2 y rúbricas proporcionados. El registro previo contiene una validación por segmento. Se requieren 3–5 por segmento y verificar la evidencia existente. Report-CeTe/AV2/validacion.md y evidencia-equipo.md.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Fuentes: enunciado UPC Aplicaciones Web 202620 y rúbricas proporcionadas; feedback docente; repositorios Nexxus-ops. Datos de demostración ficticios. Revisión técnica asistida del 29/10/2026.</a:t>
            </a:r>
          </a:p>
          <a:p xmlns:a="http://schemas.openxmlformats.org/drawingml/2006/main">
            <a:r>
              <a:t>Producto público verificado el 29/10/2026 hora de Lima. Las entrevistas, los videos y los aportes de miembros siguen pendientes. No afirmar entrega académica terminada hasta cerrar esos puntos.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d4cb51a7540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5b43698a5043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b9628759f640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223e86cf4a4e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c3e9870b1643b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0cc1b550964c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9537E6-EDB1-426C-B925-3D5445151A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CB7924-E48D-478E-ADEC-E0A554D186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90D8FB4-B96B-4CED-BA0D-0E15718C32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EFA53C-BCE9-4FDC-AEAB-1041777B6D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3072B5C-3874-4478-8820-DC680131C8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BB7B9B8-DEB0-4642-A8F4-B7000C0546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E6746DF-A238-49C6-8F93-994FC4F854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17F3408-96EB-4849-819D-61591F6FB5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951CBED-3BC9-41A6-8E2F-CF6610E8DA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3105B4-EA79-4C46-8C55-2775F8452B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7fb60d8eef4d8e" /><Relationship Type="http://schemas.openxmlformats.org/officeDocument/2006/relationships/slideLayout" Target="/ppt/slideLayouts/slideLayout1.xml" Id="R0d8e10351abf46a1" /><Relationship Type="http://schemas.openxmlformats.org/officeDocument/2006/relationships/slideLayout" Target="/ppt/slideLayouts/slideLayout2.xml" Id="Re60f4fa9d76c42f0" /><Relationship Type="http://schemas.openxmlformats.org/officeDocument/2006/relationships/slideLayout" Target="/ppt/slideLayouts/slideLayout3.xml" Id="R4272359071a84012" /><Relationship Type="http://schemas.openxmlformats.org/officeDocument/2006/relationships/slideLayout" Target="/ppt/slideLayouts/slideLayout4.xml" Id="Re781aa1a12aa490b" /><Relationship Type="http://schemas.openxmlformats.org/officeDocument/2006/relationships/slideLayout" Target="/ppt/slideLayouts/slideLayout5.xml" Id="R7c9e043f7bd64fce" /><Relationship Type="http://schemas.openxmlformats.org/officeDocument/2006/relationships/slideLayout" Target="/ppt/slideLayouts/slideLayout6.xml" Id="Rd2455cf8161844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8e10351abf46a1"/>
    <p:sldLayoutId xmlns:r="http://schemas.openxmlformats.org/officeDocument/2006/relationships" id="2147483650" r:id="Re60f4fa9d76c42f0"/>
    <p:sldLayoutId xmlns:r="http://schemas.openxmlformats.org/officeDocument/2006/relationships" id="2147483651" r:id="R4272359071a84012"/>
    <p:sldLayoutId xmlns:r="http://schemas.openxmlformats.org/officeDocument/2006/relationships" id="2147483652" r:id="Re781aa1a12aa490b"/>
    <p:sldLayoutId xmlns:r="http://schemas.openxmlformats.org/officeDocument/2006/relationships" id="2147483653" r:id="R7c9e043f7bd64fce"/>
    <p:sldLayoutId xmlns:r="http://schemas.openxmlformats.org/officeDocument/2006/relationships" id="2147483654" r:id="Rd2455cf8161844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dcf963d6ae4c6b" /><Relationship Type="http://schemas.openxmlformats.org/officeDocument/2006/relationships/notesSlide" Target="/ppt/notesSlides/notesSlide1.xml" Id="R55402111ed9849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f34c8c2cc4b03" /><Relationship Type="http://schemas.openxmlformats.org/officeDocument/2006/relationships/image" Target="/ppt/media/image.png" Id="R52cb3c6b53e745cc" /><Relationship Type="http://schemas.openxmlformats.org/officeDocument/2006/relationships/notesSlide" Target="/ppt/notesSlides/notesSlide2.xml" Id="R9ff7fda422054f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1283df98db48d5" /><Relationship Type="http://schemas.openxmlformats.org/officeDocument/2006/relationships/notesSlide" Target="/ppt/notesSlides/notesSlide3.xml" Id="Rc62dc11b80e54e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a7e7b372ac4887" /><Relationship Type="http://schemas.openxmlformats.org/officeDocument/2006/relationships/image" Target="/ppt/media/image2.png" Id="R4f80778bef6b475c" /><Relationship Type="http://schemas.openxmlformats.org/officeDocument/2006/relationships/notesSlide" Target="/ppt/notesSlides/notesSlide4.xml" Id="Rc2882292b8fa4b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882771a28d492c" /><Relationship Type="http://schemas.openxmlformats.org/officeDocument/2006/relationships/notesSlide" Target="/ppt/notesSlides/notesSlide5.xml" Id="Re38163d0726d4a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fce868e8d146da" /><Relationship Type="http://schemas.openxmlformats.org/officeDocument/2006/relationships/notesSlide" Target="/ppt/notesSlides/notesSlide6.xml" Id="Re34cca57d7734c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884be1cd6b4a12" /><Relationship Type="http://schemas.openxmlformats.org/officeDocument/2006/relationships/image" Target="/ppt/media/image3.png" Id="R78216013487b49a4" /><Relationship Type="http://schemas.openxmlformats.org/officeDocument/2006/relationships/notesSlide" Target="/ppt/notesSlides/notesSlide7.xml" Id="Rf375a6be9ff440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86b43771114deb" /><Relationship Type="http://schemas.openxmlformats.org/officeDocument/2006/relationships/image" Target="/ppt/media/image4.png" Id="Re5cff53bd81a4818" /><Relationship Type="http://schemas.openxmlformats.org/officeDocument/2006/relationships/notesSlide" Target="/ppt/notesSlides/notesSlide8.xml" Id="Re30be1c83ed548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eaefe29e124a71" /><Relationship Type="http://schemas.openxmlformats.org/officeDocument/2006/relationships/image" Target="/ppt/media/image5.png" Id="R8780d41db6db4f9f" /><Relationship Type="http://schemas.openxmlformats.org/officeDocument/2006/relationships/notesSlide" Target="/ppt/notesSlides/notesSlide9.xml" Id="Ra3d66b93749b49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c166b224114df9" /><Relationship Type="http://schemas.openxmlformats.org/officeDocument/2006/relationships/image" Target="/ppt/media/image6.png" Id="Ra530ca5627884ac4" /><Relationship Type="http://schemas.openxmlformats.org/officeDocument/2006/relationships/notesSlide" Target="/ppt/notesSlides/notesSlide10.xml" Id="R8ed49529c18e4c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c94a91999b496f" /><Relationship Type="http://schemas.openxmlformats.org/officeDocument/2006/relationships/notesSlide" Target="/ppt/notesSlides/notesSlide11.xml" Id="R052f1cf6a71f4d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478799a4734910" /><Relationship Type="http://schemas.openxmlformats.org/officeDocument/2006/relationships/notesSlide" Target="/ppt/notesSlides/notesSlide12.xml" Id="Ref939096eb004c9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0057b6103e459c" /><Relationship Type="http://schemas.openxmlformats.org/officeDocument/2006/relationships/notesSlide" Target="/ppt/notesSlides/notesSlide13.xml" Id="R9f8a5862e9c441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5cb4a7e95c464b" /><Relationship Type="http://schemas.openxmlformats.org/officeDocument/2006/relationships/notesSlide" Target="/ppt/notesSlides/notesSlide14.xml" Id="R0361e5e4686a48e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89796d03f54954" /><Relationship Type="http://schemas.openxmlformats.org/officeDocument/2006/relationships/notesSlide" Target="/ppt/notesSlides/notesSlide15.xml" Id="Ra9994321c2844a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fd65228eae4bed" /><Relationship Type="http://schemas.openxmlformats.org/officeDocument/2006/relationships/notesSlide" Target="/ppt/notesSlides/notesSlide16.xml" Id="R25e3da95472f47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7DCA4-3CF4-464B-AEE0-51AB67205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6E4E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413CA-2922-4A2C-BD66-4FC87069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001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CeTe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0E9F6-5F78-4438-9741-F81B95AD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1000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Incremento para AV2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AE72FB-9280-4B03-9406-1DECE30C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6E4EF"/>
                </a:solidFill>
                <a:latin typeface="Arial"/>
                <a:ea typeface="Arial"/>
                <a:cs typeface="Arial"/>
              </a:rPr>
              <a:t>Nexxus · Aplicaciones Web · UPC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48D79E-1A7B-477A-8DD5-4A2807EB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6E4EF"/>
                </a:solidFill>
                <a:latin typeface="Arial"/>
                <a:ea typeface="Arial"/>
                <a:cs typeface="Arial"/>
              </a:rPr>
              <a:t>Correcciones técnicas y evidencias de ejecución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7DE215-128B-49EF-9271-1DEE0FAF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436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6E4E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6E4EF"/>
                </a:solidFill>
                <a:latin typeface="Arial"/>
                <a:ea typeface="Arial"/>
                <a:cs typeface="Arial"/>
              </a:rPr>
              <a:t>29 de octubre de 2026</a:t>
            </a:r>
          </a:p>
        </p:txBody>
      </p:sp>
    </p:spTree>
    <p:extLst>
      <p:ext uri="{BB962C8B-B14F-4D97-AF65-F5344CB8AC3E}">
        <p14:creationId xmlns:p14="http://schemas.microsoft.com/office/powerpoint/2010/main" val="1885173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7021F-8700-4A53-9FE1-20412D1E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El incremento conecta las operaciones de la MYPE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857F82-6F9F-45EF-BE10-E9FB4BA7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F3130-6511-4B6E-BC81-3076E25A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3667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CeTe reúne abastecimiento, inventario, ventas y entregas en un espacio de trabajo por empresa.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352DDD-9000-4CE1-BAA7-5E8CD113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3667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La demostración consulta datos persistidos por la API C# y PostgreSQL.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E0CFF-ED8E-4BA5-B622-E93B452C21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cb3c6b53e745cc"/>
          <a:stretch xmlns:a="http://schemas.openxmlformats.org/drawingml/2006/main"/>
        </p:blipFill>
        <p:spPr>
          <a:xfrm xmlns:a="http://schemas.openxmlformats.org/drawingml/2006/main">
            <a:off x="5059680" y="1619250"/>
            <a:ext cx="6035040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28DA2-95D6-488C-A811-4776A2DF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Captura de ejecución pública. Los registros pertenecen a una empresa ficticia de prueba.</a:t>
            </a:r>
          </a:p>
        </p:txBody>
      </p:sp>
    </p:spTree>
    <p:extLst>
      <p:ext uri="{BB962C8B-B14F-4D97-AF65-F5344CB8AC3E}">
        <p14:creationId xmlns:p14="http://schemas.microsoft.com/office/powerpoint/2010/main" val="21041331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29017A-6193-4921-9F68-2E0370D0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El feedback se traduce en correcciones verificables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ECA295-B178-4BC1-BC93-C375F062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1B520-FD78-40E7-96FE-2724DDA6387C}"/>
              </a:ext>
            </a:extLst>
          </p:cNvPr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6781800"/>
              </a:tblGrid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Observación TB1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T w="9525">
                      <a:solidFill>
                        <a:srgbClr val="DBE4ED"/>
                      </a:solidFill>
                      <a:prstDash val="solid"/>
                    </a:lnT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Corrección preparada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T w="9525">
                      <a:solidFill>
                        <a:srgbClr val="DBE4ED"/>
                      </a:solidFill>
                      <a:prstDash val="solid"/>
                    </a:lnT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25 h estimadas en Sprint 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Registro histórico aclarado y tareas propuestas de 4–8 h.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Idioma y footer de landing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EN/ES persistentes y cuatro páginas funcionales.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Technical Stories y base de datos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42 US, 35 TS visibles y 35 tablas físicas.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PPT sin evidencia ni conclusiones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Evidencia histórica, ejecución AV2 y conclusiones concretas.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Dos participantes de frontend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Registro y reparto propuestos. Aportes reales pendientes.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Boleta ausente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Boleta histórica con detalle e impresión desde la interfaz.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24875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F61038-913F-493E-A10A-3E3AC12B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Sprint 2 registró 25 horas estimadas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37CBF-263C-4946-BFFD-2D7DAD7A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9559C-130B-44D9-8FE6-799C637C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342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defPPr>
            <a:lvl1pPr>
              <a:defRPr sz="5700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1pPr>
            <a:lvl2pPr>
              <a:defRPr sz="5700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2pPr>
            <a:lvl3pPr>
              <a:defRPr sz="5700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3pPr>
            <a:lvl4pPr>
              <a:defRPr sz="5700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4pPr>
            <a:lvl5pPr>
              <a:defRPr sz="5700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5pPr>
            <a:lvl6pPr>
              <a:defRPr sz="5700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6pPr>
            <a:lvl7pPr>
              <a:defRPr sz="5700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7pPr>
            <a:lvl8pPr>
              <a:defRPr sz="5700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8pPr>
            <a:lvl9pPr>
              <a:defRPr sz="5700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A94300"/>
                </a:solidFill>
                <a:latin typeface="Arial"/>
                <a:ea typeface="Arial"/>
                <a:cs typeface="Arial"/>
              </a:rPr>
              <a:t>25 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480D0-C45B-4B47-BEC2-573B7505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Siete actividades registradas.</a:t>
            </a:r>
          </a:p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Tres tareas menores de 4 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7172BC-A52E-4F9E-96FD-A89751BC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34290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El nuevo plan descompone revisión y consolidación. El equipo debe acordar capacidad y registrar tiempo real.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C630B2-6C9A-4595-8CF0-463E836276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0778bef6b475c"/>
          <a:stretch xmlns:a="http://schemas.openxmlformats.org/drawingml/2006/main"/>
        </p:blipFill>
        <p:spPr>
          <a:xfrm xmlns:a="http://schemas.openxmlformats.org/drawingml/2006/main">
            <a:off x="4578725" y="1724025"/>
            <a:ext cx="6901700" cy="40195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8CBBA-6B52-41E3-9A7D-F14B3304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Evidencia histórica de TB1. Una asignación de tablero no acredita autoría ni tiempo real.</a:t>
            </a:r>
          </a:p>
        </p:txBody>
      </p:sp>
    </p:spTree>
    <p:extLst>
      <p:ext uri="{BB962C8B-B14F-4D97-AF65-F5344CB8AC3E}">
        <p14:creationId xmlns:p14="http://schemas.microsoft.com/office/powerpoint/2010/main" val="20353422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57E19-AE94-4D87-8D6C-F29EAFC9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El backlog hace explícitos el valor y el trabajo técnico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FA2F7B-5024-4611-AFC9-FEC23EFC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F95815-4435-4984-B5B4-2BC0CA0EE3A8}"/>
              </a:ext>
            </a:extLst>
          </p:cNvPr>
          <p:cNvGraphicFramePr/>
          <p:nvPr/>
        </p:nvGraphicFramePr>
        <p:xfrm>
          <a:off xmlns:a="http://schemas.openxmlformats.org/drawingml/2006/main" x="609600" y="1724025"/>
          <a:ext xmlns:a="http://schemas.openxmlformats.org/drawingml/2006/main" cx="10972800" cy="3514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4114800"/>
                <a:gridCol w="1143000"/>
                <a:gridCol w="4572000"/>
              </a:tblGrid>
              <a:tr h="585788">
                <a:tc>
                  <a:txBody>
                    <a:bodyPr lIns="76200" tIns="76200" rIns="76200" bIns="762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T w="9525">
                      <a:solidFill>
                        <a:srgbClr val="DBE4ED"/>
                      </a:solidFill>
                      <a:prstDash val="solid"/>
                    </a:lnT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Valor para el usuario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T w="9525">
                      <a:solidFill>
                        <a:srgbClr val="DBE4ED"/>
                      </a:solidFill>
                      <a:prstDash val="solid"/>
                    </a:lnT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T w="9525">
                      <a:solidFill>
                        <a:srgbClr val="DBE4ED"/>
                      </a:solidFill>
                      <a:prstDash val="solid"/>
                    </a:lnT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Habilitador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T w="9525">
                      <a:solidFill>
                        <a:srgbClr val="DBE4ED"/>
                      </a:solidFill>
                      <a:prstDash val="solid"/>
                    </a:lnT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585788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US35/36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Confirmar venta y descontar stock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TS11/31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Transacción e idempotencia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85788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US39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Consultar e imprimir boleta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TS28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Instantánea histórica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US40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Organizar una compra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TS29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Orden sin cambio de stock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85788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US41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Recibir mercadería por partes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TS30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Recepción y saldo atómicos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5788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US42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Entender landing y recursos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TS34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Pruebas de idioma y navegación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7ED16-0E52-48D9-9829-FF6F4FD3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139 SP propuestos para las US. Refinamiento y aceptación del equipo pendientes.</a:t>
            </a:r>
          </a:p>
        </p:txBody>
      </p:sp>
    </p:spTree>
    <p:extLst>
      <p:ext uri="{BB962C8B-B14F-4D97-AF65-F5344CB8AC3E}">
        <p14:creationId xmlns:p14="http://schemas.microsoft.com/office/powerpoint/2010/main" val="17546790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710310-8881-43DB-8832-1CCCA5E8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Vue consume una API propia de C#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B2B75-D5A6-4C38-9BF0-BE2E4DC7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02EEE-31AE-4E8B-A490-B7459976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38375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CD7E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89C96-FFB3-45D3-ABE5-1F1478BB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47925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Frontend Vue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D1669-3CD6-4AE3-B244-87839405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81325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Pinia, PrimeVue y Material</a:t>
            </a:r>
          </a:p>
          <a:p xmlns:a="http://schemas.openxmlformats.org/drawingml/2006/main">
            <a: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Inglés y español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630A8F-E95B-427D-BCB8-D57428B8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CD7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5A47B-B783-41C1-B4B0-B48EFCAA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47925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API ASP.NET 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2D45B-D509-4FC3-B7F8-7A5C8749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81325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Casos de uso, roles y tenant</a:t>
            </a:r>
          </a:p>
          <a:p xmlns:a="http://schemas.openxmlformats.org/drawingml/2006/main">
            <a: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EF Core y transacciones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36210-F671-47B7-9935-E6D09EAA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38375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CD7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BB472-062E-464C-A1DF-73ACE750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47925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PostgreSQL 17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EB044-BD38-494A-B65D-58FB17C7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81325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35 tablas persistentes</a:t>
            </a:r>
          </a:p>
          <a:p xmlns:a="http://schemas.openxmlformats.org/drawingml/2006/main">
            <a: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Relaciones e índices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60C34A-9921-4DF0-80FE-BBB8D2A6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809875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43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D86FA-6EB6-4795-AE3F-C8CA9A36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809875"/>
            <a:ext cx="4381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43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2B589-C76B-47FA-A789-00CB4FDD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33825"/>
            <a:ext cx="285750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9430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069EF-52D4-400E-B456-029F7E67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0057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CD7E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D5AF0F-04C7-41C7-A6E2-724B49A8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810125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ExchangeRate-API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63DFE-6AB5-4D50-A895-95D473E3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5343525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Referencia USD/PEN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2D7A0E-0B0D-4246-96C0-E935352A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Docker ejecuta la API local y en Render. Los límites por bounded context siguen en consolidación.</a:t>
            </a:r>
          </a:p>
        </p:txBody>
      </p:sp>
    </p:spTree>
    <p:extLst>
      <p:ext uri="{BB962C8B-B14F-4D97-AF65-F5344CB8AC3E}">
        <p14:creationId xmlns:p14="http://schemas.microsoft.com/office/powerpoint/2010/main" val="4347686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1D440-57CD-4D0D-86C8-39C995C1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 recepción física actualiza el inventario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51BF7-8BF1-4012-AE67-D2519160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3893DC-D27B-4345-AE37-5E0F414652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216013487b49a4"/>
          <a:stretch xmlns:a="http://schemas.openxmlformats.org/drawingml/2006/main"/>
        </p:blipFill>
        <p:spPr>
          <a:xfrm xmlns:a="http://schemas.openxmlformats.org/drawingml/2006/main">
            <a:off x="1518816" y="1676400"/>
            <a:ext cx="5515818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28869-C19A-434F-8AEF-882A666A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95475"/>
            <a:ext cx="3162300" cy="2219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La orden queda pendiente.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Cada recepción registra unidades recibidas y movimiento de stock.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C113A-2733-4A02-B971-ABDB8240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14850"/>
            <a:ext cx="31623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La API permite entregas parciales y rechaza cantidades superiores al saldo.</a:t>
            </a:r>
          </a:p>
        </p:txBody>
      </p:sp>
    </p:spTree>
    <p:extLst>
      <p:ext uri="{BB962C8B-B14F-4D97-AF65-F5344CB8AC3E}">
        <p14:creationId xmlns:p14="http://schemas.microsoft.com/office/powerpoint/2010/main" val="14349177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12C0C-740C-46B5-8648-BF6B4D2F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 venta genera una boleta histórica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B09C0-B5CD-4751-822D-8A3BB02C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B8EE5-B187-41EF-AF7F-0C9D5CA52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4238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Empresa y dirección</a:t>
            </a:r>
          </a:p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Orden y número de boleta</a:t>
            </a:r>
          </a:p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Fecha y hora de Lima</a:t>
            </a:r>
          </a:p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Cliente y vendedor</a:t>
            </a:r>
          </a:p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Productos, cantidades y precios</a:t>
            </a:r>
          </a:p>
          <a:p xmlns:a="http://schemas.openxmlformats.org/drawingml/2006/main">
            <a:pPr>
              <a:defRPr sz="210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Total y método registrado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2D316-5B1F-40DB-A561-E8749C93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4238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La vista permite imprimir y volver a consultar desde el historial.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8A2A1C-72C7-45B2-AC99-91F13269F6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ff53bd81a4818"/>
          <a:stretch xmlns:a="http://schemas.openxmlformats.org/drawingml/2006/main"/>
        </p:blipFill>
        <p:spPr>
          <a:xfrm xmlns:a="http://schemas.openxmlformats.org/drawingml/2006/main">
            <a:off x="6092000" y="1524000"/>
            <a:ext cx="4684776" cy="45434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0A325-8894-40AB-8B48-11B42534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Comprobante académico de demostración. Emisión fiscal y pasarela de pago quedan fuera del incremento.</a:t>
            </a:r>
          </a:p>
        </p:txBody>
      </p:sp>
    </p:spTree>
    <p:extLst>
      <p:ext uri="{BB962C8B-B14F-4D97-AF65-F5344CB8AC3E}">
        <p14:creationId xmlns:p14="http://schemas.microsoft.com/office/powerpoint/2010/main" val="17703964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5EFE1-6273-4859-A11D-11269136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 boleta conserva su lectura en móvil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90C38-4698-42A3-B90B-468A2874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319F2-ADB2-4251-9DE5-9B241137D8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0d41db6db4f9f"/>
          <a:stretch xmlns:a="http://schemas.openxmlformats.org/drawingml/2006/main"/>
        </p:blipFill>
        <p:spPr>
          <a:xfrm xmlns:a="http://schemas.openxmlformats.org/drawingml/2006/main">
            <a:off x="2029968" y="1552575"/>
            <a:ext cx="1083564" cy="45148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CFD59-2D3A-49A6-A43E-6CE0802F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81200"/>
            <a:ext cx="600075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Prueba en pantalla de 390 px.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Idioma persistente tras recarga.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Acciones de navegación e impresión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89CA3-63B2-4791-A49F-153B1158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210175"/>
            <a:ext cx="600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La revisión visual complementa la prueba de los datos históricos en la API.</a:t>
            </a:r>
          </a:p>
        </p:txBody>
      </p:sp>
    </p:spTree>
    <p:extLst>
      <p:ext uri="{BB962C8B-B14F-4D97-AF65-F5344CB8AC3E}">
        <p14:creationId xmlns:p14="http://schemas.microsoft.com/office/powerpoint/2010/main" val="378287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C694D-944B-4E20-8CA1-49DE665B4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 landing publica contenido y recursos bilingües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9987D-C3F8-453A-B53D-39C5B65E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4666E-1D76-4D11-A20E-B869EF868ED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0ca5627884ac4"/>
          <a:stretch xmlns:a="http://schemas.openxmlformats.org/drawingml/2006/main"/>
        </p:blipFill>
        <p:spPr>
          <a:xfrm xmlns:a="http://schemas.openxmlformats.org/drawingml/2006/main">
            <a:off x="1331786" y="1685925"/>
            <a:ext cx="6089904" cy="422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E707C-93C9-4844-92FF-402E9CD5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81200"/>
            <a:ext cx="3019425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Inglés y español.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Guía, términos, privacidad y ética.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Enlaces a registro y acceso.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7F733-9C12-4B90-A226-62EAF4AB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Captura real del producto. Propuesta comercial académica de S/80 por empresa al mes, sin cobro activo.</a:t>
            </a:r>
          </a:p>
        </p:txBody>
      </p:sp>
    </p:spTree>
    <p:extLst>
      <p:ext uri="{BB962C8B-B14F-4D97-AF65-F5344CB8AC3E}">
        <p14:creationId xmlns:p14="http://schemas.microsoft.com/office/powerpoint/2010/main" val="6276586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5D838-A38E-4C55-A820-79322513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Las 35 tablas cubren relaciones del negocio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B41FAA-139B-4F8F-9936-13736351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506B1-93CC-438E-ABB6-71098E8430C1}"/>
              </a:ext>
            </a:extLst>
          </p:cNvPr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038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1143000"/>
                <a:gridCol w="7115175"/>
              </a:tblGrid>
              <a:tr h="504825">
                <a:tc>
                  <a:txBody>
                    <a:bodyPr lIns="76200" tIns="76200" rIns="76200" bIns="7620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Contexto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T w="9525">
                      <a:solidFill>
                        <a:srgbClr val="DBE4ED"/>
                      </a:solidFill>
                      <a:prstDash val="solid"/>
                    </a:lnT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Tablas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T w="9525">
                      <a:solidFill>
                        <a:srgbClr val="DBE4ED"/>
                      </a:solidFill>
                      <a:prstDash val="solid"/>
                    </a:lnT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Ejemplos y alcance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T w="9525">
                      <a:solidFill>
                        <a:srgbClr val="DBE4ED"/>
                      </a:solidFill>
                      <a:prstDash val="solid"/>
                    </a:lnT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504825"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Identidad y empresa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Usuarios, roles y sesiones. Suscripción pendiente.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04825"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Inventario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Productos, saldos y movimientos. Lotes pendientes.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Abastecimiento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Órdenes, detalles y recepciones físicas.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04825"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Ventas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Ventas, líneas, pagos registrados y boletas.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Logística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Despachos e incidencias. Paradas pendientes.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04825"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Devoluciones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Modelo preparado. Flujo pendiente.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4825"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Notificaciones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425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Modelo preparado. Bandeja pendiente.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68BA7-41DE-42A0-BD67-FC731386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TenantId y claves foráneas compuestas impiden relaciones entre empresas distintas.</a:t>
            </a:r>
          </a:p>
        </p:txBody>
      </p:sp>
    </p:spTree>
    <p:extLst>
      <p:ext uri="{BB962C8B-B14F-4D97-AF65-F5344CB8AC3E}">
        <p14:creationId xmlns:p14="http://schemas.microsoft.com/office/powerpoint/2010/main" val="16207333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E2674-08E2-4E38-95EE-6B1D2447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Las pruebas verifican errores y consistencia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87A52-87E0-44EB-81F2-35C6FF9E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106E9-549B-4E26-A2D4-51B8F393372E}"/>
              </a:ext>
            </a:extLst>
          </p:cNvPr>
          <p:cNvGraphicFramePr/>
          <p:nvPr/>
        </p:nvGraphicFramePr>
        <p:xfrm>
          <a:off xmlns:a="http://schemas.openxmlformats.org/drawingml/2006/main" x="609600" y="1628775"/>
          <a:ext xmlns:a="http://schemas.openxmlformats.org/drawingml/2006/main" cx="10972800" cy="4333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524375"/>
                <a:gridCol w="6448425"/>
              </a:tblGrid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Caso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T w="9525">
                      <a:solidFill>
                        <a:srgbClr val="DBE4ED"/>
                      </a:solidFill>
                      <a:prstDash val="solid"/>
                    </a:lnT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Resultado comprobado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T w="9525">
                      <a:solidFill>
                        <a:srgbClr val="DBE4ED"/>
                      </a:solidFill>
                      <a:prstDash val="solid"/>
                    </a:lnT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Última unidad y dos ventas simultáneas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Una venta 200 y un conflicto 409. Stock final cero.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Fallo de stock en una línea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Rollback completo de la orden.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Reintento con el mismo UUID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Conserva una sola venta y un descuento.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Cambio posterior del catálogo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La boleta conserva nombre y precio originales.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Token revocado / recurso de otra empresa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401 para sesión cerrada y 404 para recurso ajeno.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Navegador público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Registro, compras, recepción, venta, boleta e idiomas.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96956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0B0B65-5D8E-4B6F-BC11-1CB48A42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Docker y Render ejecutan el mismo backend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765C6-AEAE-444A-9B1A-AFDA11C2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5A6DB-7AEF-4F91-B7FE-26FAA884A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A94300"/>
                </a:solidFill>
                <a:latin typeface="Arial"/>
                <a:ea typeface="Arial"/>
                <a:cs typeface="Arial"/>
              </a:rPr>
              <a:t>Docker local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F6197-0020-4856-85D2-B8C87338A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6672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API y PostgreSQL con Docker Compose.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Volumen para conservar los datos.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Secretos locales fuera de Git.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F015F-A89E-4130-8CAD-C64C3B5B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8097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A943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A94300"/>
                </a:solidFill>
                <a:latin typeface="Arial"/>
                <a:ea typeface="Arial"/>
                <a:cs typeface="Arial"/>
              </a:rPr>
              <a:t>Render público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22E09-0002-455B-8F9A-A02D9559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43175"/>
            <a:ext cx="5048250" cy="2647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API Docker y PostgreSQL separados.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Frontend y landing como sitios estáticos.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Recorrido público verificado.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D8B05-ED43-4960-8C69-CCC941BB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PostgreSQL Free vence el 29/11/2026 UTC. El servicio gratuito puede suspenderse por inactividad.</a:t>
            </a:r>
          </a:p>
        </p:txBody>
      </p:sp>
    </p:spTree>
    <p:extLst>
      <p:ext uri="{BB962C8B-B14F-4D97-AF65-F5344CB8AC3E}">
        <p14:creationId xmlns:p14="http://schemas.microsoft.com/office/powerpoint/2010/main" val="5287768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F61F74-6A92-4824-9FA2-2FA33056C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 participación del equipo requiere evidencia real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5D8D9-9E00-4BBC-B497-C7D67A2E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27BCE5-FFE1-45BC-B08E-D6B5556848A4}"/>
              </a:ext>
            </a:extLst>
          </p:cNvPr>
          <p:cNvGraphicFramePr/>
          <p:nvPr/>
        </p:nvGraphicFramePr>
        <p:xfrm>
          <a:off xmlns:a="http://schemas.openxmlformats.org/drawingml/2006/main" x="609600" y="168592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524375"/>
                <a:gridCol w="3495675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Integrante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T w="9525">
                      <a:solidFill>
                        <a:srgbClr val="DBE4ED"/>
                      </a:solidFill>
                      <a:prstDash val="solid"/>
                    </a:lnT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Revisión propuesta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T w="9525">
                      <a:solidFill>
                        <a:srgbClr val="DBE4ED"/>
                      </a:solidFill>
                      <a:prstDash val="solid"/>
                    </a:lnT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Evidencia AV2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T w="9525">
                      <a:solidFill>
                        <a:srgbClr val="DBE4ED"/>
                      </a:solidFill>
                      <a:prstDash val="solid"/>
                    </a:lnT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Liz Anahua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Compras, recepción y roles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Pendiente de aporte propio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Diego Campoblanco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Boleta, landing y móvil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Pendiente de aporte propio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Piero Montes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Movimientos y pruebas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Pendiente de aporte propio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Kevin Salazar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API, esquema y despliegue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Pendiente de aceptación individual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Darikson Salazar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Despachos y presentación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Pendiente de aporte propio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BC7F1-C7A5-4147-BA17-0C438DD4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Mínimo tres participantes reales en frontend. Cada aporte necesita commit, revisión y demostración.</a:t>
            </a:r>
          </a:p>
        </p:txBody>
      </p:sp>
    </p:spTree>
    <p:extLst>
      <p:ext uri="{BB962C8B-B14F-4D97-AF65-F5344CB8AC3E}">
        <p14:creationId xmlns:p14="http://schemas.microsoft.com/office/powerpoint/2010/main" val="17055325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6EA518-8DC7-40FE-AAA8-6BD2CF75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El cierre académico requiere validación y videos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83246-82DE-446F-AE80-0423847A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B9872-C1EE-43DE-8775-F23F98031BCD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162800"/>
              </a:tblGrid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Pendiente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T w="9525">
                      <a:solidFill>
                        <a:srgbClr val="DBE4ED"/>
                      </a:solidFill>
                      <a:prstDash val="solid"/>
                    </a:lnT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Evidencia para cerrar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T w="9525">
                      <a:solidFill>
                        <a:srgbClr val="DBE4ED"/>
                      </a:solidFill>
                      <a:prstDash val="solid"/>
                    </a:lnT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Planificación y tablero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Fechas, capacidad, estimaciones acordadas y evolución de estados.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Validación con ambos segmentos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3–5 personas por segmento, tareas, tiempos y hallazgos.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About-the-Product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Demo pública con compra, recepción, venta y boleta.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About-the-Team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Aporte y aprendizaje demostrados por cada integrante.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Aceptación y performance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BE4ED"/>
                      </a:solidFill>
                      <a:prstDash val="solid"/>
                    </a:lnL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r>
                        <a:rPr sz="1500" b="0">
                          <a:solidFill>
                            <a:srgbClr val="102A43"/>
                          </a:solidFill>
                          <a:latin typeface="Arial"/>
                          <a:ea typeface="Arial"/>
                          <a:cs typeface="Arial"/>
                        </a:rPr>
                        <a:t>Revisión del coordinador y fuentes verificables.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BE4ED"/>
                      </a:solidFill>
                      <a:prstDash val="solid"/>
                    </a:lnR>
                    <a:lnB w="9525">
                      <a:solidFill>
                        <a:srgbClr val="DBE4ED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5A5DDE-32C8-4E95-AD4D-9BC9CDF9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El informe incluye 16 tareas de consolidación de 4–8 h: 94 h-persona propuestas para refinamiento.</a:t>
            </a:r>
          </a:p>
        </p:txBody>
      </p:sp>
    </p:spTree>
    <p:extLst>
      <p:ext uri="{BB962C8B-B14F-4D97-AF65-F5344CB8AC3E}">
        <p14:creationId xmlns:p14="http://schemas.microsoft.com/office/powerpoint/2010/main" val="61023737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8721B7-8CF5-4736-9354-5FEC0F39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5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Conclusiones y accesos de revisión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24F8D-1CF7-47D1-8C81-8807735F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03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FD7D3-F356-4F8E-9684-63536F0DE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85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La venta y su boleta conservan datos históricos. El stock queda protegido ante errores y ventas simultáneas.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E50F8C-742B-4090-BFF4-673BDC5A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57525"/>
            <a:ext cx="10858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El modelo amplía la trazabilidad de compras y entregas. El backlog identifica los flujos que todavía faltan.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834A3-6B68-4B31-9167-6AC39B19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94300"/>
                </a:solidFill>
                <a:latin typeface="Arial"/>
                <a:ea typeface="Arial"/>
                <a:cs typeface="Arial"/>
              </a:rPr>
              <a:t>Landing  cete-landing-av2.onrender.com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345CC-754D-49AB-A650-0442B44E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94300"/>
                </a:solidFill>
                <a:latin typeface="Arial"/>
                <a:ea typeface="Arial"/>
                <a:cs typeface="Arial"/>
              </a:rPr>
              <a:t>Frontend  cete-web-av2.onrender.com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1FFB4-51D8-45B7-B275-DF34D93C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A943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94300"/>
                </a:solidFill>
                <a:latin typeface="Arial"/>
                <a:ea typeface="Arial"/>
                <a:cs typeface="Arial"/>
              </a:rPr>
              <a:t>API  cete-api-av2.onrender.com/swagger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FD13E-4387-40F4-9228-6A3B465A8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2657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579"/>
                </a:solidFill>
                <a:latin typeface="Arial"/>
                <a:ea typeface="Arial"/>
                <a:cs typeface="Arial"/>
              </a:rPr>
              <a:t>El cierre de AV2 depende de validación, participación y videos reales del equipo.</a:t>
            </a:r>
          </a:p>
        </p:txBody>
      </p:sp>
    </p:spTree>
    <p:extLst>
      <p:ext uri="{BB962C8B-B14F-4D97-AF65-F5344CB8AC3E}">
        <p14:creationId xmlns:p14="http://schemas.microsoft.com/office/powerpoint/2010/main" val="480841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2026-10-30T04:59:04.3830000Z</dcterms:created>
  <dcterms:modified xsi:type="dcterms:W3CDTF">2026-10-30T04:59:04.3830000Z</dcterms:modified>
</coreProperties>
</file>